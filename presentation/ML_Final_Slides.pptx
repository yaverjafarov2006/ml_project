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512e8ce38e4228" /><Relationship Type="http://schemas.openxmlformats.org/officeDocument/2006/relationships/extended-properties" Target="/docProps/app.xml" Id="R64f4d8250e2342a0" /><Relationship Type="http://schemas.openxmlformats.org/officeDocument/2006/relationships/officeDocument" Target="/ppt/presentation.xml" Id="R31f923341b0c4c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5feb7962564193"/>
  </p:sldMasterIdLst>
  <p:notesMasterIdLst>
    <p:notesMasterId xmlns:r="http://schemas.openxmlformats.org/officeDocument/2006/relationships" r:id="Rf17fca82a70342fd"/>
  </p:notesMasterIdLst>
  <p:sldIdLst>
    <p:sldId xmlns:r="http://schemas.openxmlformats.org/officeDocument/2006/relationships" id="256" r:id="R69ad63e29941441c"/>
    <p:sldId xmlns:r="http://schemas.openxmlformats.org/officeDocument/2006/relationships" id="257" r:id="R89b407f494fc4cfa"/>
    <p:sldId xmlns:r="http://schemas.openxmlformats.org/officeDocument/2006/relationships" id="258" r:id="Rc977b5fdd9d94727"/>
    <p:sldId xmlns:r="http://schemas.openxmlformats.org/officeDocument/2006/relationships" id="259" r:id="R08f1da4837e1404f"/>
    <p:sldId xmlns:r="http://schemas.openxmlformats.org/officeDocument/2006/relationships" id="260" r:id="R2e331ccc1fd348df"/>
    <p:sldId xmlns:r="http://schemas.openxmlformats.org/officeDocument/2006/relationships" id="261" r:id="Rede5d90e8dfc4dcc"/>
    <p:sldId xmlns:r="http://schemas.openxmlformats.org/officeDocument/2006/relationships" id="262" r:id="Ra327737b429d49f0"/>
    <p:sldId xmlns:r="http://schemas.openxmlformats.org/officeDocument/2006/relationships" id="263" r:id="Rdd3091b0c1e34384"/>
    <p:sldId xmlns:r="http://schemas.openxmlformats.org/officeDocument/2006/relationships" id="264" r:id="R00e39f3081654fff"/>
    <p:sldId xmlns:r="http://schemas.openxmlformats.org/officeDocument/2006/relationships" id="265" r:id="R6a47d05303bb437e"/>
    <p:sldId xmlns:r="http://schemas.openxmlformats.org/officeDocument/2006/relationships" id="266" r:id="R516974f41b9e43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7784ba4c904458" /><Relationship Type="http://schemas.openxmlformats.org/officeDocument/2006/relationships/slideMaster" Target="/ppt/slideMasters/slideMaster1.xml" Id="R3a5feb7962564193" /><Relationship Type="http://schemas.openxmlformats.org/officeDocument/2006/relationships/notesMaster" Target="/ppt/notesMasters/notesMaster1.xml" Id="Rf17fca82a70342fd" /><Relationship Type="http://schemas.openxmlformats.org/officeDocument/2006/relationships/presProps" Target="/ppt/presProps.xml" Id="Rc4578dfe922e447a" /><Relationship Type="http://schemas.openxmlformats.org/officeDocument/2006/relationships/tableStyles" Target="/ppt/tableStyles.xml" Id="Rb6db800e6d6b4dc9" /><Relationship Type="http://schemas.openxmlformats.org/officeDocument/2006/relationships/slide" Target="/ppt/slides/slide1.xml" Id="R69ad63e29941441c" /><Relationship Type="http://schemas.openxmlformats.org/officeDocument/2006/relationships/slide" Target="/ppt/slides/slide2.xml" Id="R89b407f494fc4cfa" /><Relationship Type="http://schemas.openxmlformats.org/officeDocument/2006/relationships/slide" Target="/ppt/slides/slide3.xml" Id="Rc977b5fdd9d94727" /><Relationship Type="http://schemas.openxmlformats.org/officeDocument/2006/relationships/slide" Target="/ppt/slides/slide4.xml" Id="R08f1da4837e1404f" /><Relationship Type="http://schemas.openxmlformats.org/officeDocument/2006/relationships/slide" Target="/ppt/slides/slide5.xml" Id="R2e331ccc1fd348df" /><Relationship Type="http://schemas.openxmlformats.org/officeDocument/2006/relationships/slide" Target="/ppt/slides/slide6.xml" Id="Rede5d90e8dfc4dcc" /><Relationship Type="http://schemas.openxmlformats.org/officeDocument/2006/relationships/slide" Target="/ppt/slides/slide7.xml" Id="Ra327737b429d49f0" /><Relationship Type="http://schemas.openxmlformats.org/officeDocument/2006/relationships/slide" Target="/ppt/slides/slide8.xml" Id="Rdd3091b0c1e34384" /><Relationship Type="http://schemas.openxmlformats.org/officeDocument/2006/relationships/slide" Target="/ppt/slides/slide9.xml" Id="R00e39f3081654fff" /><Relationship Type="http://schemas.openxmlformats.org/officeDocument/2006/relationships/slide" Target="/ppt/slides/slide10.xml" Id="R6a47d05303bb437e" /><Relationship Type="http://schemas.openxmlformats.org/officeDocument/2006/relationships/slide" Target="/ppt/slides/slide11.xml" Id="R516974f41b9e43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1b201715f247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c99e9c65804341" /><Relationship Type="http://schemas.openxmlformats.org/officeDocument/2006/relationships/notesMaster" Target="/ppt/notesMasters/notesMaster1.xml" Id="R6bff2e5bdb524a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8aabbd79a04d9d" /><Relationship Type="http://schemas.openxmlformats.org/officeDocument/2006/relationships/notesMaster" Target="/ppt/notesMasters/notesMaster1.xml" Id="R8013896600a849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22b0b42f8e4757" /><Relationship Type="http://schemas.openxmlformats.org/officeDocument/2006/relationships/notesMaster" Target="/ppt/notesMasters/notesMaster1.xml" Id="Re4bb61028aba4d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b8d2a4215c46c2" /><Relationship Type="http://schemas.openxmlformats.org/officeDocument/2006/relationships/notesMaster" Target="/ppt/notesMasters/notesMaster1.xml" Id="Ra673196dbd8644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772cd606f64769" /><Relationship Type="http://schemas.openxmlformats.org/officeDocument/2006/relationships/notesMaster" Target="/ppt/notesMasters/notesMaster1.xml" Id="R20447533dec84d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cb6056122e44e4" /><Relationship Type="http://schemas.openxmlformats.org/officeDocument/2006/relationships/notesMaster" Target="/ppt/notesMasters/notesMaster1.xml" Id="R06858abaa3ce46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4bd399c9fa419f" /><Relationship Type="http://schemas.openxmlformats.org/officeDocument/2006/relationships/notesMaster" Target="/ppt/notesMasters/notesMaster1.xml" Id="R9c7fa031060246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f4c0e8eaa84b14" /><Relationship Type="http://schemas.openxmlformats.org/officeDocument/2006/relationships/notesMaster" Target="/ppt/notesMasters/notesMaster1.xml" Id="Ra7dec7e3021a4b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ca4d59b0b54acf" /><Relationship Type="http://schemas.openxmlformats.org/officeDocument/2006/relationships/notesMaster" Target="/ppt/notesMasters/notesMaster1.xml" Id="R32d09fcbcdfc42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e897234bd64b8d" /><Relationship Type="http://schemas.openxmlformats.org/officeDocument/2006/relationships/notesMaster" Target="/ppt/notesMasters/notesMaster1.xml" Id="Rf0b9adec331f48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f78a50c8084086" /><Relationship Type="http://schemas.openxmlformats.org/officeDocument/2006/relationships/notesMaster" Target="/ppt/notesMasters/notesMaster1.xml" Id="Ra41a556b55ad48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Müdafiə üçün giriş: iki ayrı tapşırıq var — qiymət proqnozu və qiymət kateqoriyasının təyini. F1 qiymət dəqiqliyi deyil. Source: outputs/final_metrics.json.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100775 xam sətirdən eyni elanın köhnə nüsxələri çıxarıldı. Eyni əmlaka bənzəyən elanların qrupları train/validation/test arasında qarışmır. Premium həddi yalnız yaşayış train-dən 207000 AZN hesablanıb. Source: outputs/final_data_summary.json; src/data_prep.py.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NumPy ağacı Gini, entropy və MSE dəstəkləyir. Sıralanmış fərqli dəyərlər arasındakı hədlər yoxlanır; prefix cəmlər sürəti artırır. Qiymətdə log transformasiyası və category əsasında iki model var. Məkan mərkəzləri train-də qurulur. Source: src/decision_tree.py; src/residential_models.py.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SVM məqsədi regularizasiya və hinge loss cəmidir. Bias ayrıca və regularizasiya olunmadan yenilənir. Mini-batch 256, eta=1/(lambda*t), proyeksiya və son yarı iterasiyaların ortası. RFF RBF kernelini NumPy ilə təxmini qurur. Sources: src/svm.py; outputs/svm_diagnostics.csv; Shalev-Shwartz et al. 2011 doi:10.1007/s10107-010-0420-4; Rahimi and Recht 2007.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Qiymət üçün validation RMSE, classification üçün positive-class F1 əsas götürüldü. Tree validation F1 ən yüksəkdir, buna görə əsas classifier ağacdır. Test nəticəsi heç bir parametr seçimini dəyişməyib. Source: outputs/frozen_config.json; final_*_search.csv.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nəticələri əvvəl seçilən parametrlərlə alınıb. Solda yalnız öz modellərimizin F1 nəticələri, sağda seçilən ağacın confusion matrix-i var. Premium strict price&gt;207000 AZN. Source: outputs/final_metrics.json.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Median nisbi səhv 8.74 faizdir, amma R2 0.104dür. Bu fərq çox böyük qiymət xətaları ilə izah olunur. Heç bir test sətri silinməyib. Məqsəd zəif metrikləri gizlətməməkdir. Source: outputs/final_metrics.json; outputs/final_error_analysis.json.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CV ayrı train hissəsində 5 fold aparılıb, testin təkrar ölçülməsi deyil. 600 milyon AZN-lik qeyd bir fold-da evaluation tərəfinə düşüb RMSE-ni kəskin artırır. Buna görə qeyri-sabitliyi hesabatda göstəririk. Source: outputs/final_cv_folds.csv; final_cv_summary.csv.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Həyət evlərində median nisbi səhv daha böyükdür. Premium həddinə yaxın 1041 sətirdə ağacın səhvi 27.95 faiz, qalan hissədə 5.17 faizdir. Ümumi yaxşı F1 bütün altqruplarda eyni keyfiyyət demək deyil. Source: outputs/final_regression_error_by_category.csv; final_classification_error_groups.csv.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Baseline-lar eyni input, eyni lambda və model parametrləri ilə müqayisə olunur. SGD-nin optimizer addımları tam eyni deyil. Tree-də tie-breaking və float fərqləri ola bilər. Core algoritm fayllarında sklearn import yoxdur. Source: outputs/final_metrics.json; src/final_models.py.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Demo: FINAL_Project.ipynb açılır; hazır metriklər, seçilmiş parametrlər, CV, diaqnostika və nümunə qiymət göstərilir. Tam təkrar python -m src.run_all. AI dəstəyi açıqlanır. Komanda adları, real töhfələr və repo URL istifadəçi tərəfindən tamamlanmalıdır. Sources: README.md; contribution_report.md; submission_metadata.json.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301ffa59804a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1dd1baf89842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02570e59864f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f98e487e50439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d1610b054242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d0581474424f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DA2FF1-5E8B-4B9B-9E2C-DBBFF6E6B6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636A92-BB1E-4C94-8E36-6B154F1D2A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3596C70-7218-4B5C-A5C5-749287F563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7FFB7F-4356-42DC-9F83-B561256A1D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759A33-669B-4DE3-AA41-D7CF0A909E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CF7F70C-714A-41A4-AADC-3F6273FD3C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E340DE-974A-428D-BC3C-FCC3688CA1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6DCF790-5364-483B-B033-5691B56D85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BF7961-4BDB-46B4-9AF7-F9D5A80FA1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91546F-9AC4-49FF-B7E8-628A17BD6D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39b001a6aa4310" /><Relationship Type="http://schemas.openxmlformats.org/officeDocument/2006/relationships/slideLayout" Target="/ppt/slideLayouts/slideLayout1.xml" Id="R2dd30b846e6d4964" /><Relationship Type="http://schemas.openxmlformats.org/officeDocument/2006/relationships/slideLayout" Target="/ppt/slideLayouts/slideLayout2.xml" Id="Ra815d14ee3364fc9" /><Relationship Type="http://schemas.openxmlformats.org/officeDocument/2006/relationships/slideLayout" Target="/ppt/slideLayouts/slideLayout3.xml" Id="R28d5eb5ddbbd4bfa" /><Relationship Type="http://schemas.openxmlformats.org/officeDocument/2006/relationships/slideLayout" Target="/ppt/slideLayouts/slideLayout4.xml" Id="R8734b2de125a4dff" /><Relationship Type="http://schemas.openxmlformats.org/officeDocument/2006/relationships/slideLayout" Target="/ppt/slideLayouts/slideLayout5.xml" Id="R99ce86b40b1a4707" /><Relationship Type="http://schemas.openxmlformats.org/officeDocument/2006/relationships/slideLayout" Target="/ppt/slideLayouts/slideLayout6.xml" Id="R1ddb21fe920543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d30b846e6d4964"/>
    <p:sldLayoutId xmlns:r="http://schemas.openxmlformats.org/officeDocument/2006/relationships" id="2147483650" r:id="Ra815d14ee3364fc9"/>
    <p:sldLayoutId xmlns:r="http://schemas.openxmlformats.org/officeDocument/2006/relationships" id="2147483651" r:id="R28d5eb5ddbbd4bfa"/>
    <p:sldLayoutId xmlns:r="http://schemas.openxmlformats.org/officeDocument/2006/relationships" id="2147483652" r:id="R8734b2de125a4dff"/>
    <p:sldLayoutId xmlns:r="http://schemas.openxmlformats.org/officeDocument/2006/relationships" id="2147483653" r:id="R99ce86b40b1a4707"/>
    <p:sldLayoutId xmlns:r="http://schemas.openxmlformats.org/officeDocument/2006/relationships" id="2147483654" r:id="R1ddb21fe920543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4c302dd2b34660" /><Relationship Type="http://schemas.openxmlformats.org/officeDocument/2006/relationships/notesSlide" Target="/ppt/notesSlides/notesSlide1.xml" Id="Ra99c8b94c9ba4f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9cbdbc47af4741" /><Relationship Type="http://schemas.openxmlformats.org/officeDocument/2006/relationships/notesSlide" Target="/ppt/notesSlides/notesSlide2.xml" Id="Rd58dd50a023d47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bb3cae726b41ea" /><Relationship Type="http://schemas.openxmlformats.org/officeDocument/2006/relationships/notesSlide" Target="/ppt/notesSlides/notesSlide3.xml" Id="Rd4afef6116964b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73453d28124b12" /><Relationship Type="http://schemas.openxmlformats.org/officeDocument/2006/relationships/notesSlide" Target="/ppt/notesSlides/notesSlide4.xml" Id="R9b38c0068c4a45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8d305c68a84204" /><Relationship Type="http://schemas.openxmlformats.org/officeDocument/2006/relationships/notesSlide" Target="/ppt/notesSlides/notesSlide5.xml" Id="Rbbd41814d89842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3fc8fb3e084b81" /><Relationship Type="http://schemas.openxmlformats.org/officeDocument/2006/relationships/chart" Target="/ppt/slides/charts/chart1.xml" Id="R34e850e2929241ba" /><Relationship Type="http://schemas.openxmlformats.org/officeDocument/2006/relationships/notesSlide" Target="/ppt/notesSlides/notesSlide6.xml" Id="Re4aef1695ca34d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650e5655641b0" /><Relationship Type="http://schemas.openxmlformats.org/officeDocument/2006/relationships/notesSlide" Target="/ppt/notesSlides/notesSlide7.xml" Id="R92584dcfa8454a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ca673a3c3a441f" /><Relationship Type="http://schemas.openxmlformats.org/officeDocument/2006/relationships/chart" Target="/ppt/slides/charts/chart2.xml" Id="R9d36f013cdb2496b" /><Relationship Type="http://schemas.openxmlformats.org/officeDocument/2006/relationships/notesSlide" Target="/ppt/notesSlides/notesSlide8.xml" Id="R8563d266390346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027daf1dd44573" /><Relationship Type="http://schemas.openxmlformats.org/officeDocument/2006/relationships/chart" Target="/ppt/slides/charts/chart3.xml" Id="R66590fcdd95947dd" /><Relationship Type="http://schemas.openxmlformats.org/officeDocument/2006/relationships/notesSlide" Target="/ppt/notesSlides/notesSlide9.xml" Id="Rf222eb21e36f42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6500e5fd6e4201" /><Relationship Type="http://schemas.openxmlformats.org/officeDocument/2006/relationships/notesSlide" Target="/ppt/notesSlides/notesSlide10.xml" Id="Rb65c7d2b539f4e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13fefbbb9841d3" /><Relationship Type="http://schemas.openxmlformats.org/officeDocument/2006/relationships/notesSlide" Target="/ppt/notesSlides/notesSlide11.xml" Id="Rc4724e99483c4f8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Test F1</c:v>
          </c:tx>
          <c:spPr>
            <a:solidFill xmlns:a="http://schemas.openxmlformats.org/drawingml/2006/main">
              <a:srgbClr val="167D7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Tree</c:v>
                </c:pt>
                <c:pt idx="1">
                  <c:v>Linear SVM</c:v>
                </c:pt>
                <c:pt idx="2">
                  <c:v>RFF SVM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0.9218</c:v>
                </c:pt>
                <c:pt idx="1">
                  <c:v>0.903729</c:v>
                </c:pt>
                <c:pt idx="2">
                  <c:v>0.908844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42D45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E3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Test F1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RMSE (million AZN)</c:v>
          </c:tx>
          <c:spPr>
            <a:solidFill xmlns:a="http://schemas.openxmlformats.org/drawingml/2006/main">
              <a:srgbClr val="2563A6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Fold 1</c:v>
                </c:pt>
                <c:pt idx="1">
                  <c:v>Fold 2</c:v>
                </c:pt>
                <c:pt idx="2">
                  <c:v>Fold 3</c:v>
                </c:pt>
                <c:pt idx="3">
                  <c:v>Fold 4</c:v>
                </c:pt>
                <c:pt idx="4">
                  <c:v>Fold 5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0.126998</c:v>
                </c:pt>
                <c:pt idx="1">
                  <c:v>6.626947</c:v>
                </c:pt>
                <c:pt idx="2">
                  <c:v>0.148269</c:v>
                </c:pt>
                <c:pt idx="3">
                  <c:v>0.126201</c:v>
                </c:pt>
                <c:pt idx="4">
                  <c:v>0.131015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42D45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7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E3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RMSE (million AZN)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Median relative price error</c:v>
          </c:tx>
          <c:spPr>
            <a:solidFill xmlns:a="http://schemas.openxmlformats.org/drawingml/2006/main">
              <a:srgbClr val="167D7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New apartments</c:v>
                </c:pt>
                <c:pt idx="1">
                  <c:v>Old apartments</c:v>
                </c:pt>
                <c:pt idx="2">
                  <c:v>Houses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0.075005</c:v>
                </c:pt>
                <c:pt idx="1">
                  <c:v>0.079663</c:v>
                </c:pt>
                <c:pt idx="2">
                  <c:v>0.197997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42D45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0.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AE3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Median relative price error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line">
            <a:extLst xmlns:a="http://schemas.openxmlformats.org/drawingml/2006/main">
              <a:ext uri="{FF2B5EF4-FFF2-40B4-BE49-F238E27FC236}">
                <a16:creationId xmlns:a16="http://schemas.microsoft.com/office/drawing/2014/main" id="{84649D05-DF0F-4ED6-8221-908B117D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Residential asking-price prediction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E9D128-B9B6-47C6-99C9-C79A0E36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B052507-8B84-4CBE-BBB4-BFFDBC44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NumPy decision trees, Pegasos and random Fourier features</a:t>
            </a:r>
          </a:p>
        </p:txBody>
      </p:sp>
      <p:sp>
        <p:nvSpPr>
          <p:cNvPr id="4" name="course">
            <a:extLst xmlns:a="http://schemas.openxmlformats.org/drawingml/2006/main">
              <a:ext uri="{FF2B5EF4-FFF2-40B4-BE49-F238E27FC236}">
                <a16:creationId xmlns:a16="http://schemas.microsoft.com/office/drawing/2014/main" id="{BA638698-B77A-46F4-B9E6-BB69DC7E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AI Academy / National AI Center</a:t>
            </a:r>
          </a:p>
          <a:p xmlns:a="http://schemas.openxmlformats.org/drawingml/2006/main">
            <a:pPr>
              <a:def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MLE-AI-201 · Final Project V3</a:t>
            </a:r>
          </a:p>
        </p:txBody>
      </p:sp>
      <p:sp>
        <p:nvSpPr>
          <p:cNvPr id="5" name="finding">
            <a:extLst xmlns:a="http://schemas.openxmlformats.org/drawingml/2006/main">
              <a:ext uri="{FF2B5EF4-FFF2-40B4-BE49-F238E27FC236}">
                <a16:creationId xmlns:a16="http://schemas.microsoft.com/office/drawing/2014/main" id="{E2961C09-2F91-4157-80BE-980824F5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67D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7D72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67D72"/>
                </a:solidFill>
                <a:latin typeface="DejaVu Sans"/>
                <a:ea typeface="DejaVu Sans"/>
                <a:cs typeface="DejaVu Sans"/>
              </a:rPr>
              <a:t>Selected classifier: F1 0.9218</a:t>
            </a:r>
          </a:p>
        </p:txBody>
      </p:sp>
      <p:sp>
        <p:nvSpPr>
          <p:cNvPr id="6" name="price-finding">
            <a:extLst xmlns:a="http://schemas.openxmlformats.org/drawingml/2006/main">
              <a:ext uri="{FF2B5EF4-FFF2-40B4-BE49-F238E27FC236}">
                <a16:creationId xmlns:a16="http://schemas.microsoft.com/office/drawing/2014/main" id="{7EE9C9D8-2355-479D-82FF-87A4FE8B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563A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563A6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563A6"/>
                </a:solidFill>
                <a:latin typeface="DejaVu Sans"/>
                <a:ea typeface="DejaVu Sans"/>
                <a:cs typeface="DejaVu Sans"/>
              </a:rPr>
              <a:t>Price model: median relative error 8.74%</a:t>
            </a:r>
          </a:p>
        </p:txBody>
      </p:sp>
      <p:sp>
        <p:nvSpPr>
          <p:cNvPr id="7" name="scope">
            <a:extLst xmlns:a="http://schemas.openxmlformats.org/drawingml/2006/main">
              <a:ext uri="{FF2B5EF4-FFF2-40B4-BE49-F238E27FC236}">
                <a16:creationId xmlns:a16="http://schemas.microsoft.com/office/drawing/2014/main" id="{B5C2A054-B0BE-48FB-A199-729A655B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Residential listings only · historical asking prices · held-out test n = 8,724</a:t>
            </a:r>
          </a:p>
        </p:txBody>
      </p:sp>
    </p:spTree>
    <p:extLst>
      <p:ext uri="{BB962C8B-B14F-4D97-AF65-F5344CB8AC3E}">
        <p14:creationId xmlns:p14="http://schemas.microsoft.com/office/powerpoint/2010/main" val="14583425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line">
            <a:extLst xmlns:a="http://schemas.openxmlformats.org/drawingml/2006/main">
              <a:ext uri="{FF2B5EF4-FFF2-40B4-BE49-F238E27FC236}">
                <a16:creationId xmlns:a16="http://schemas.microsoft.com/office/drawing/2014/main" id="{F5C51342-D6AE-4A05-AE6F-B24FE9E5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A declared residential scope and disjoint property groups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7F5AF07-72AA-4D8D-B372-A4E0CA08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C7B00-A7E3-4ACF-B87B-12D2742A0E8B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61912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714500"/>
                <a:gridCol w="2000250"/>
              </a:tblGrid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Subset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T w="6668">
                      <a:solidFill>
                        <a:srgbClr val="DAE3EC"/>
                      </a:solidFill>
                      <a:prstDash val="solid"/>
                    </a:lnT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Rows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T w="6668">
                      <a:solidFill>
                        <a:srgbClr val="DAE3EC"/>
                      </a:solidFill>
                      <a:prstDash val="solid"/>
                    </a:lnT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Property groups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T w="6668">
                      <a:solidFill>
                        <a:srgbClr val="DAE3EC"/>
                      </a:solidFill>
                      <a:prstDash val="solid"/>
                    </a:lnT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Train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40,932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40,422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Validation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8,796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8,692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8,724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8,622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4" name="scope-heading">
            <a:extLst xmlns:a="http://schemas.openxmlformats.org/drawingml/2006/main">
              <a:ext uri="{FF2B5EF4-FFF2-40B4-BE49-F238E27FC236}">
                <a16:creationId xmlns:a16="http://schemas.microsoft.com/office/drawing/2014/main" id="{767DB4AF-32E3-4C11-BEE3-07CDF592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7D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D72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67D72"/>
                </a:solidFill>
                <a:latin typeface="DejaVu Sans"/>
                <a:ea typeface="DejaVu Sans"/>
                <a:cs typeface="DejaVu Sans"/>
              </a:rPr>
              <a:t>Included</a:t>
            </a:r>
          </a:p>
        </p:txBody>
      </p:sp>
      <p:sp>
        <p:nvSpPr>
          <p:cNvPr id="5" name="scope-text">
            <a:extLst xmlns:a="http://schemas.openxmlformats.org/drawingml/2006/main">
              <a:ext uri="{FF2B5EF4-FFF2-40B4-BE49-F238E27FC236}">
                <a16:creationId xmlns:a16="http://schemas.microsoft.com/office/drawing/2014/main" id="{F111FF35-90B4-46A7-8FE5-D6EA02E1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90750"/>
            <a:ext cx="4095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New / old apartments</a:t>
            </a:r>
          </a:p>
          <a:p xmlns:a="http://schemas.openxmlformats.org/drawingml/2006/main">
            <a:pPr>
              <a:def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Detached / garden houses</a:t>
            </a:r>
          </a:p>
        </p:txBody>
      </p:sp>
      <p:sp>
        <p:nvSpPr>
          <p:cNvPr id="6" name="exclude-heading">
            <a:extLst xmlns:a="http://schemas.openxmlformats.org/drawingml/2006/main">
              <a:ext uri="{FF2B5EF4-FFF2-40B4-BE49-F238E27FC236}">
                <a16:creationId xmlns:a16="http://schemas.microsoft.com/office/drawing/2014/main" id="{C97BB15A-340C-4041-8167-A1C6DB24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24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Excluded</a:t>
            </a:r>
          </a:p>
        </p:txBody>
      </p:sp>
      <p:sp>
        <p:nvSpPr>
          <p:cNvPr id="7" name="exclude-text">
            <a:extLst xmlns:a="http://schemas.openxmlformats.org/drawingml/2006/main">
              <a:ext uri="{FF2B5EF4-FFF2-40B4-BE49-F238E27FC236}">
                <a16:creationId xmlns:a16="http://schemas.microsoft.com/office/drawing/2014/main" id="{0CAC13B0-E9C3-44E8-879E-391F34A9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1955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Offices, commercial units,</a:t>
            </a:r>
          </a:p>
          <a:p xmlns:a="http://schemas.openxmlformats.org/drawingml/2006/main">
            <a:pPr>
              <a:def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land and garages</a:t>
            </a:r>
          </a:p>
        </p:txBody>
      </p:sp>
      <p:sp>
        <p:nvSpPr>
          <p:cNvPr id="8" name="leakage">
            <a:extLst xmlns:a="http://schemas.openxmlformats.org/drawingml/2006/main">
              <a:ext uri="{FF2B5EF4-FFF2-40B4-BE49-F238E27FC236}">
                <a16:creationId xmlns:a16="http://schemas.microsoft.com/office/drawing/2014/main" id="{B6B198D0-5AE8-4321-B2E0-DD18BA84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Train-only encoding and scaling. Price-derived columns and owner/address identifiers never enter X.</a:t>
            </a:r>
          </a:p>
        </p:txBody>
      </p:sp>
    </p:spTree>
    <p:extLst>
      <p:ext uri="{BB962C8B-B14F-4D97-AF65-F5344CB8AC3E}">
        <p14:creationId xmlns:p14="http://schemas.microsoft.com/office/powerpoint/2010/main" val="9416596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line">
            <a:extLst xmlns:a="http://schemas.openxmlformats.org/drawingml/2006/main">
              <a:ext uri="{FF2B5EF4-FFF2-40B4-BE49-F238E27FC236}">
                <a16:creationId xmlns:a16="http://schemas.microsoft.com/office/drawing/2014/main" id="{48BE2D81-0380-4B69-AD0E-92FCD2A4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Own trees search exact split thresholds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A176F80-E61D-47D4-8CD2-CFF9481D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algorithm-title">
            <a:extLst xmlns:a="http://schemas.openxmlformats.org/drawingml/2006/main">
              <a:ext uri="{FF2B5EF4-FFF2-40B4-BE49-F238E27FC236}">
                <a16:creationId xmlns:a16="http://schemas.microsoft.com/office/drawing/2014/main" id="{38B131B1-9DF0-449B-AE51-A167068D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563A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563A6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563A6"/>
                </a:solidFill>
                <a:latin typeface="DejaVu Sans"/>
                <a:ea typeface="DejaVu Sans"/>
                <a:cs typeface="DejaVu Sans"/>
              </a:rPr>
              <a:t>Core implementation</a:t>
            </a:r>
          </a:p>
        </p:txBody>
      </p:sp>
      <p:sp>
        <p:nvSpPr>
          <p:cNvPr id="4" name="algorithm">
            <a:extLst xmlns:a="http://schemas.openxmlformats.org/drawingml/2006/main">
              <a:ext uri="{FF2B5EF4-FFF2-40B4-BE49-F238E27FC236}">
                <a16:creationId xmlns:a16="http://schemas.microsoft.com/office/drawing/2014/main" id="{9F2F0083-6D45-46AA-86EE-240981AC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2387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1. Sort candidate feature values</a:t>
            </a:r>
          </a:p>
          <a:p xmlns:a="http://schemas.openxmlformats.org/drawingml/2006/main">
            <a:pPr>
              <a:def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2. Score adjacent thresholds</a:t>
            </a:r>
          </a:p>
          <a:p xmlns:a="http://schemas.openxmlformats.org/drawingml/2006/main">
            <a:pPr>
              <a:def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3. Maximize impurity reduction</a:t>
            </a:r>
          </a:p>
          <a:p xmlns:a="http://schemas.openxmlformats.org/drawingml/2006/main">
            <a:pPr>
              <a:def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4. Recurse until stopping rules</a:t>
            </a:r>
          </a:p>
          <a:p xmlns:a="http://schemas.openxmlformats.org/drawingml/2006/main">
            <a:pPr>
              <a:def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5. Predict mean / majority at leaves</a:t>
            </a:r>
          </a:p>
        </p:txBody>
      </p:sp>
      <p:sp>
        <p:nvSpPr>
          <p:cNvPr id="5" name="price-title">
            <a:extLst xmlns:a="http://schemas.openxmlformats.org/drawingml/2006/main">
              <a:ext uri="{FF2B5EF4-FFF2-40B4-BE49-F238E27FC236}">
                <a16:creationId xmlns:a16="http://schemas.microsoft.com/office/drawing/2014/main" id="{CD6F0435-B766-4DD8-A4E0-275B0A1B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573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67D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67D72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67D72"/>
                </a:solidFill>
                <a:latin typeface="DejaVu Sans"/>
                <a:ea typeface="DejaVu Sans"/>
                <a:cs typeface="DejaVu Sans"/>
              </a:rPr>
              <a:t>Selected price pipeline</a:t>
            </a:r>
          </a:p>
        </p:txBody>
      </p:sp>
      <p:sp>
        <p:nvSpPr>
          <p:cNvPr id="6" name="price-method">
            <a:extLst xmlns:a="http://schemas.openxmlformats.org/drawingml/2006/main">
              <a:ext uri="{FF2B5EF4-FFF2-40B4-BE49-F238E27FC236}">
                <a16:creationId xmlns:a16="http://schemas.microsoft.com/office/drawing/2014/main" id="{16C7FC9B-CC40-4800-AAE1-ACD0D25D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4953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Log-price target</a:t>
            </a:r>
          </a:p>
          <a:p xmlns:a="http://schemas.openxmlformats.org/drawingml/2006/main">
            <a:pPr>
              <a:def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Apartment / house routing</a:t>
            </a:r>
          </a:p>
          <a:p xmlns:a="http://schemas.openxmlformats.org/drawingml/2006/main">
            <a:pPr>
              <a:def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Train-only geographic distances</a:t>
            </a:r>
          </a:p>
          <a:p xmlns:a="http://schemas.openxmlformats.org/drawingml/2006/main">
            <a:pPr>
              <a:def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Depth 16 · minimum leaf 5</a:t>
            </a:r>
          </a:p>
          <a:p xmlns:a="http://schemas.openxmlformats.org/drawingml/2006/main">
            <a:pPr>
              <a:def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Exponentiate leaf predictions</a:t>
            </a:r>
          </a:p>
        </p:txBody>
      </p:sp>
      <p:sp>
        <p:nvSpPr>
          <p:cNvPr id="7" name="test-note">
            <a:extLst xmlns:a="http://schemas.openxmlformats.org/drawingml/2006/main">
              <a:ext uri="{FF2B5EF4-FFF2-40B4-BE49-F238E27FC236}">
                <a16:creationId xmlns:a16="http://schemas.microsoft.com/office/drawing/2014/main" id="{7768D784-F0B9-42F2-B74A-48C0321D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Toy splits agree with sklearn; tests also cover zero-gain XOR splits and every stopping rule.</a:t>
            </a:r>
          </a:p>
        </p:txBody>
      </p:sp>
    </p:spTree>
    <p:extLst>
      <p:ext uri="{BB962C8B-B14F-4D97-AF65-F5344CB8AC3E}">
        <p14:creationId xmlns:p14="http://schemas.microsoft.com/office/powerpoint/2010/main" val="3960860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0784F2CF-2EDF-4745-B888-BCC5D089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Own Pegasos learns linear and nonlinear margins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90F62E2-1B2E-4496-BBA2-747C2183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objective">
            <a:extLst xmlns:a="http://schemas.openxmlformats.org/drawingml/2006/main">
              <a:ext uri="{FF2B5EF4-FFF2-40B4-BE49-F238E27FC236}">
                <a16:creationId xmlns:a16="http://schemas.microsoft.com/office/drawing/2014/main" id="{45F2F6D2-7968-4A37-BB7E-024E7895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J(w, b) = λ‖w‖² / 2 + mean[max(0, 1 − y(w·x + b))]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D96E3-4D15-4CCB-82DB-F2A289A53FBC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1714500"/>
                <a:gridCol w="1428750"/>
                <a:gridCol w="2667000"/>
                <a:gridCol w="2590800"/>
              </a:tblGrid>
              <a:tr h="69215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 model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T w="6668">
                      <a:solidFill>
                        <a:srgbClr val="DAE3EC"/>
                      </a:solidFill>
                      <a:prstDash val="solid"/>
                    </a:lnT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λ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T w="6668">
                      <a:solidFill>
                        <a:srgbClr val="DAE3EC"/>
                      </a:solidFill>
                      <a:prstDash val="solid"/>
                    </a:lnT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Epochs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T w="6668">
                      <a:solidFill>
                        <a:srgbClr val="DAE3EC"/>
                      </a:solidFill>
                      <a:prstDash val="solid"/>
                    </a:lnT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Final objective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T w="6668">
                      <a:solidFill>
                        <a:srgbClr val="DAE3EC"/>
                      </a:solidFill>
                      <a:prstDash val="solid"/>
                    </a:lnT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Margin 2/‖w‖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T w="6668">
                      <a:solidFill>
                        <a:srgbClr val="DAE3EC"/>
                      </a:solidFill>
                      <a:prstDash val="solid"/>
                    </a:lnT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142D45"/>
                    </a:solidFill>
                  </a:tcPr>
                </a:tc>
              </a:tr>
              <a:tr h="6921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Linear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0.001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0.2380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0.559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6921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RFF + linear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0.00001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0.2261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0.033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ff">
            <a:extLst xmlns:a="http://schemas.openxmlformats.org/drawingml/2006/main">
              <a:ext uri="{FF2B5EF4-FFF2-40B4-BE49-F238E27FC236}">
                <a16:creationId xmlns:a16="http://schemas.microsoft.com/office/drawing/2014/main" id="{B2F80A63-E7D8-4FC1-9342-94068742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67D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7D7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7D72"/>
                </a:solidFill>
                <a:latin typeface="DejaVu Sans"/>
                <a:ea typeface="DejaVu Sans"/>
                <a:cs typeface="DejaVu Sans"/>
              </a:rPr>
              <a:t>Nonlinear mapping: γ = 0.005, 2,048 Fourier features.</a:t>
            </a:r>
          </a:p>
          <a:p xmlns:a="http://schemas.openxmlformats.org/drawingml/2006/main">
            <a:pPr>
              <a:defRPr sz="2025" b="0">
                <a:solidFill>
                  <a:srgbClr val="167D7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7D72"/>
                </a:solidFill>
                <a:latin typeface="DejaVu Sans"/>
                <a:ea typeface="DejaVu Sans"/>
                <a:cs typeface="DejaVu Sans"/>
              </a:rPr>
              <a:t>Zero-vector objective = 1.0; final objectives are lower.</a:t>
            </a:r>
          </a:p>
        </p:txBody>
      </p:sp>
    </p:spTree>
    <p:extLst>
      <p:ext uri="{BB962C8B-B14F-4D97-AF65-F5344CB8AC3E}">
        <p14:creationId xmlns:p14="http://schemas.microsoft.com/office/powerpoint/2010/main" val="15951344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line">
            <a:extLst xmlns:a="http://schemas.openxmlformats.org/drawingml/2006/main">
              <a:ext uri="{FF2B5EF4-FFF2-40B4-BE49-F238E27FC236}">
                <a16:creationId xmlns:a16="http://schemas.microsoft.com/office/drawing/2014/main" id="{D8AE73B8-1BFB-4D87-ADBF-6AB13521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Validation selects the configurations before test scoring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3ECD251-F786-4EC9-9AE4-6346DD42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7B532-A17E-4E82-BDBC-BA49E7C117AF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6000750"/>
                <a:gridCol w="2781300"/>
              </a:tblGrid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Candidate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T w="6668">
                      <a:solidFill>
                        <a:srgbClr val="DAE3EC"/>
                      </a:solidFill>
                      <a:prstDash val="solid"/>
                    </a:lnT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Selected configuration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T w="6668">
                      <a:solidFill>
                        <a:srgbClr val="DAE3EC"/>
                      </a:solidFill>
                      <a:prstDash val="solid"/>
                    </a:lnT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Validation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T w="6668">
                      <a:solidFill>
                        <a:srgbClr val="DAE3EC"/>
                      </a:solidFill>
                      <a:prstDash val="solid"/>
                    </a:lnT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Price tree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Spatial + category routing; depth 16, leaf 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169,875 AZN RMSE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Tier tree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Entropy; depth 16, leaf 10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0.9253 F1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Linear SVM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λ = 0.001; 120 epochs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0.9095 F1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RFF SVM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γ = 0.005; λ = 0.00001; 2,048 features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0.9136 F1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protocol">
            <a:extLst xmlns:a="http://schemas.openxmlformats.org/drawingml/2006/main">
              <a:ext uri="{FF2B5EF4-FFF2-40B4-BE49-F238E27FC236}">
                <a16:creationId xmlns:a16="http://schemas.microsoft.com/office/drawing/2014/main" id="{B6604F1E-A254-4848-A6BF-4620403A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67D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7D7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7D72"/>
                </a:solidFill>
                <a:latin typeface="DejaVu Sans"/>
                <a:ea typeface="DejaVu Sans"/>
                <a:cs typeface="DejaVu Sans"/>
              </a:rPr>
              <a:t>Frozen configuration → five-fold stability check → held-out test</a:t>
            </a:r>
          </a:p>
          <a:p xmlns:a="http://schemas.openxmlformats.org/drawingml/2006/main">
            <a:pPr>
              <a:defRPr sz="2025" b="0">
                <a:solidFill>
                  <a:srgbClr val="167D7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67D72"/>
                </a:solidFill>
                <a:latin typeface="DejaVu Sans"/>
                <a:ea typeface="DejaVu Sans"/>
                <a:cs typeface="DejaVu Sans"/>
              </a:rPr>
              <a:t>Final training uses the original training subset only.</a:t>
            </a:r>
          </a:p>
        </p:txBody>
      </p:sp>
    </p:spTree>
    <p:extLst>
      <p:ext uri="{BB962C8B-B14F-4D97-AF65-F5344CB8AC3E}">
        <p14:creationId xmlns:p14="http://schemas.microsoft.com/office/powerpoint/2010/main" val="17333817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9E261FDD-5081-4765-9056-0B330AB0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The selected tree reaches test F1 = 0.9218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77AA336-C333-4AF6-B887-30233F46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C5E3D14B-E390-444A-ADE3-197E1BB2AE40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6381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e850e2929241ba"/>
          </a:graphicData>
        </a:graphic>
      </p:graphicFrame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72BF5-420B-48B3-8D1F-D21B4E8339AC}"/>
              </a:ext>
            </a:extLst>
          </p:cNvPr>
          <p:cNvGraphicFramePr/>
          <p:nvPr/>
        </p:nvGraphicFramePr>
        <p:xfrm>
          <a:off xmlns:a="http://schemas.openxmlformats.org/drawingml/2006/main" x="7543800" y="2000250"/>
          <a:ext xmlns:a="http://schemas.openxmlformats.org/drawingml/2006/main" cx="40386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1257300"/>
                <a:gridCol w="1257300"/>
              </a:tblGrid>
              <a:tr h="73025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Actual / predicted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T w="6668">
                      <a:solidFill>
                        <a:srgbClr val="DAE3EC"/>
                      </a:solidFill>
                      <a:prstDash val="solid"/>
                    </a:lnT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Standard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T w="6668">
                      <a:solidFill>
                        <a:srgbClr val="DAE3EC"/>
                      </a:solidFill>
                      <a:prstDash val="solid"/>
                    </a:lnT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Premium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T w="6668">
                      <a:solidFill>
                        <a:srgbClr val="DAE3EC"/>
                      </a:solidFill>
                      <a:prstDash val="solid"/>
                    </a:lnT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142D45"/>
                    </a:solidFill>
                  </a:tcPr>
                </a:tc>
              </a:tr>
              <a:tr h="7302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Standard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3,981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308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7302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Premium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380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4,055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auc">
            <a:extLst xmlns:a="http://schemas.openxmlformats.org/drawingml/2006/main">
              <a:ext uri="{FF2B5EF4-FFF2-40B4-BE49-F238E27FC236}">
                <a16:creationId xmlns:a16="http://schemas.microsoft.com/office/drawing/2014/main" id="{EF9DBC9F-5386-4732-B270-9F630481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33900"/>
            <a:ext cx="400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7D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7D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7D72"/>
                </a:solidFill>
                <a:latin typeface="DejaVu Sans"/>
                <a:ea typeface="DejaVu Sans"/>
                <a:cs typeface="DejaVu Sans"/>
              </a:rPr>
              <a:t>ROC AUC: 0.9670</a:t>
            </a:r>
          </a:p>
          <a:p xmlns:a="http://schemas.openxmlformats.org/drawingml/2006/main">
            <a:pPr>
              <a:defRPr sz="1950" b="0">
                <a:solidFill>
                  <a:srgbClr val="167D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7D72"/>
                </a:solidFill>
                <a:latin typeface="DejaVu Sans"/>
                <a:ea typeface="DejaVu Sans"/>
                <a:cs typeface="DejaVu Sans"/>
              </a:rPr>
              <a:t>Precision: 0.9294</a:t>
            </a:r>
          </a:p>
          <a:p xmlns:a="http://schemas.openxmlformats.org/drawingml/2006/main">
            <a:pPr>
              <a:defRPr sz="1950" b="0">
                <a:solidFill>
                  <a:srgbClr val="167D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67D72"/>
                </a:solidFill>
                <a:latin typeface="DejaVu Sans"/>
                <a:ea typeface="DejaVu Sans"/>
                <a:cs typeface="DejaVu Sans"/>
              </a:rPr>
              <a:t>Recall: 0.9143</a:t>
            </a:r>
          </a:p>
        </p:txBody>
      </p:sp>
    </p:spTree>
    <p:extLst>
      <p:ext uri="{BB962C8B-B14F-4D97-AF65-F5344CB8AC3E}">
        <p14:creationId xmlns:p14="http://schemas.microsoft.com/office/powerpoint/2010/main" val="7482245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line">
            <a:extLst xmlns:a="http://schemas.openxmlformats.org/drawingml/2006/main">
              <a:ext uri="{FF2B5EF4-FFF2-40B4-BE49-F238E27FC236}">
                <a16:creationId xmlns:a16="http://schemas.microsoft.com/office/drawing/2014/main" id="{DFA0024D-E17C-461A-9499-89268807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Price accuracy is useful for typical rows, unstable in the tail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8113B8B-FBEF-4B58-808C-AF87A035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CED07-F10E-4024-A3DB-3B37F405E70F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2476500"/>
                <a:gridCol w="2476500"/>
                <a:gridCol w="2209800"/>
              </a:tblGrid>
              <a:tr h="657225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Model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T w="6668">
                      <a:solidFill>
                        <a:srgbClr val="DAE3EC"/>
                      </a:solidFill>
                      <a:prstDash val="solid"/>
                    </a:lnT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RMSE (AZN)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T w="6668">
                      <a:solidFill>
                        <a:srgbClr val="DAE3EC"/>
                      </a:solidFill>
                      <a:prstDash val="solid"/>
                    </a:lnT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MAE (AZN)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T w="6668">
                      <a:solidFill>
                        <a:srgbClr val="DAE3EC"/>
                      </a:solidFill>
                      <a:prstDash val="solid"/>
                    </a:lnT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R²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T w="6668">
                      <a:solidFill>
                        <a:srgbClr val="DAE3EC"/>
                      </a:solidFill>
                      <a:prstDash val="solid"/>
                    </a:lnT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142D45"/>
                    </a:solidFill>
                  </a:tcPr>
                </a:tc>
              </a:tr>
              <a:tr h="65722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Train median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708,732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140,927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-0.010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65722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 spatial trees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667,507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56,568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0.104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sklearn spatial trees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666,545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56,592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0.106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4" name="typical">
            <a:extLst xmlns:a="http://schemas.openxmlformats.org/drawingml/2006/main">
              <a:ext uri="{FF2B5EF4-FFF2-40B4-BE49-F238E27FC236}">
                <a16:creationId xmlns:a16="http://schemas.microsoft.com/office/drawing/2014/main" id="{0F554BC7-C1A2-4621-A6CC-F679DC4A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47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67D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67D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67D72"/>
                </a:solidFill>
                <a:latin typeface="DejaVu Sans"/>
                <a:ea typeface="DejaVu Sans"/>
                <a:cs typeface="DejaVu Sans"/>
              </a:rPr>
              <a:t>Median absolute percentage error: 8.74%</a:t>
            </a:r>
          </a:p>
          <a:p xmlns:a="http://schemas.openxmlformats.org/drawingml/2006/main">
            <a:pPr>
              <a:defRPr sz="2325" b="1">
                <a:solidFill>
                  <a:srgbClr val="167D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67D72"/>
                </a:solidFill>
                <a:latin typeface="DejaVu Sans"/>
                <a:ea typeface="DejaVu Sans"/>
                <a:cs typeface="DejaVu Sans"/>
              </a:rPr>
              <a:t>77.4% of test prices are predicted within ±20%</a:t>
            </a:r>
          </a:p>
        </p:txBody>
      </p:sp>
    </p:spTree>
    <p:extLst>
      <p:ext uri="{BB962C8B-B14F-4D97-AF65-F5344CB8AC3E}">
        <p14:creationId xmlns:p14="http://schemas.microsoft.com/office/powerpoint/2010/main" val="21347777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line">
            <a:extLst xmlns:a="http://schemas.openxmlformats.org/drawingml/2006/main">
              <a:ext uri="{FF2B5EF4-FFF2-40B4-BE49-F238E27FC236}">
                <a16:creationId xmlns:a16="http://schemas.microsoft.com/office/drawing/2014/main" id="{08B31E3E-3532-445D-84F6-6C72B58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Grouped cross-validation exposes price-label risk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7612368-EEAB-4A7D-87CC-FFABBD4B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D52A1987-3214-4176-8500-80EE568FE5B8}"/>
              </a:ext>
            </a:extLst>
          </p:cNvPr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6286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36f013cdb2496b"/>
          </a:graphicData>
        </a:graphic>
      </p:graphicFrame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08B7F-38DD-4DAE-BB21-1E2404CFA743}"/>
              </a:ext>
            </a:extLst>
          </p:cNvPr>
          <p:cNvGraphicFramePr/>
          <p:nvPr/>
        </p:nvGraphicFramePr>
        <p:xfrm>
          <a:off xmlns:a="http://schemas.openxmlformats.org/drawingml/2006/main" x="7467600" y="1905000"/>
          <a:ext xmlns:a="http://schemas.openxmlformats.org/drawingml/2006/main" cx="4114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400300"/>
              </a:tblGrid>
              <a:tr h="657225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Classifier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T w="6668">
                      <a:solidFill>
                        <a:srgbClr val="DAE3EC"/>
                      </a:solidFill>
                      <a:prstDash val="solid"/>
                    </a:lnT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CV F1 mean ± SD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T w="6668">
                      <a:solidFill>
                        <a:srgbClr val="DAE3EC"/>
                      </a:solidFill>
                      <a:prstDash val="solid"/>
                    </a:lnT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142D45"/>
                    </a:solidFill>
                  </a:tcPr>
                </a:tc>
              </a:tr>
              <a:tr h="65722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 tree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0.9183 ± 0.0023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65722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Linear SVM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0.9061 ± 0.0038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RFF SVM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0.9111 ± 0.0023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5" name="outlier">
            <a:extLst xmlns:a="http://schemas.openxmlformats.org/drawingml/2006/main">
              <a:ext uri="{FF2B5EF4-FFF2-40B4-BE49-F238E27FC236}">
                <a16:creationId xmlns:a16="http://schemas.microsoft.com/office/drawing/2014/main" id="{EC81B870-B2C8-427A-A38E-4B5320D5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Unverified extreme training price: 600,000,000 AZN.</a:t>
            </a:r>
          </a:p>
          <a:p xmlns:a="http://schemas.openxmlformats.org/drawingml/2006/main">
            <a:pPr>
              <a:defRPr sz="1875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Fixed configurations; CV is a stability check, not nested tuning.</a:t>
            </a:r>
          </a:p>
        </p:txBody>
      </p:sp>
    </p:spTree>
    <p:extLst>
      <p:ext uri="{BB962C8B-B14F-4D97-AF65-F5344CB8AC3E}">
        <p14:creationId xmlns:p14="http://schemas.microsoft.com/office/powerpoint/2010/main" val="12964580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line">
            <a:extLst xmlns:a="http://schemas.openxmlformats.org/drawingml/2006/main">
              <a:ext uri="{FF2B5EF4-FFF2-40B4-BE49-F238E27FC236}">
                <a16:creationId xmlns:a16="http://schemas.microsoft.com/office/drawing/2014/main" id="{81B29E74-43C1-4A77-87CC-37AB2250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Detached houses and threshold-adjacent prices are harder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6ACABDA-F00F-47AD-9073-096C3F88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13DF3ACB-B64E-4331-8EB6-54F6644E854D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6477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590fcdd95947dd"/>
          </a:graphicData>
        </a:graphic>
      </p:graphicFrame>
      <p:sp>
        <p:nvSpPr>
          <p:cNvPr id="4" name="near-title">
            <a:extLst xmlns:a="http://schemas.openxmlformats.org/drawingml/2006/main">
              <a:ext uri="{FF2B5EF4-FFF2-40B4-BE49-F238E27FC236}">
                <a16:creationId xmlns:a16="http://schemas.microsoft.com/office/drawing/2014/main" id="{CE688BF3-AC9C-44D1-B50E-6E28C060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4785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563A6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563A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563A6"/>
                </a:solidFill>
                <a:latin typeface="DejaVu Sans"/>
                <a:ea typeface="DejaVu Sans"/>
                <a:cs typeface="DejaVu Sans"/>
              </a:rPr>
              <a:t>Tier-classification error</a:t>
            </a:r>
          </a:p>
        </p:txBody>
      </p:sp>
      <p:sp>
        <p:nvSpPr>
          <p:cNvPr id="5" name="near">
            <a:extLst xmlns:a="http://schemas.openxmlformats.org/drawingml/2006/main">
              <a:ext uri="{FF2B5EF4-FFF2-40B4-BE49-F238E27FC236}">
                <a16:creationId xmlns:a16="http://schemas.microsoft.com/office/drawing/2014/main" id="{19A17DEC-4E68-4349-AA83-5EF252C7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03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28.0% near the threshold</a:t>
            </a:r>
          </a:p>
          <a:p xmlns:a="http://schemas.openxmlformats.org/drawingml/2006/main">
            <a:pPr>
              <a:defRPr sz="2325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5.2% farther away</a:t>
            </a:r>
          </a:p>
        </p:txBody>
      </p:sp>
      <p:sp>
        <p:nvSpPr>
          <p:cNvPr id="6" name="definition">
            <a:extLst xmlns:a="http://schemas.openxmlformats.org/drawingml/2006/main">
              <a:ext uri="{FF2B5EF4-FFF2-40B4-BE49-F238E27FC236}">
                <a16:creationId xmlns:a16="http://schemas.microsoft.com/office/drawing/2014/main" id="{8FD4BE85-4E8D-4052-B476-2EB6F3EF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719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Near = price within 10%</a:t>
            </a:r>
          </a:p>
          <a:p xmlns:a="http://schemas.openxmlformats.org/drawingml/2006/main">
            <a:pPr>
              <a:defRPr sz="1725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of the 207,000 AZN threshold.</a:t>
            </a:r>
          </a:p>
        </p:txBody>
      </p:sp>
      <p:sp>
        <p:nvSpPr>
          <p:cNvPr id="7" name="tail">
            <a:extLst xmlns:a="http://schemas.openxmlformats.org/drawingml/2006/main">
              <a:ext uri="{FF2B5EF4-FFF2-40B4-BE49-F238E27FC236}">
                <a16:creationId xmlns:a16="http://schemas.microsoft.com/office/drawing/2014/main" id="{13A5168E-9EB0-4E4C-AB44-2AF529F4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The worst 1% of test rows contribute 98.8% of squared price error. All rows stay in evaluation.</a:t>
            </a:r>
          </a:p>
        </p:txBody>
      </p:sp>
    </p:spTree>
    <p:extLst>
      <p:ext uri="{BB962C8B-B14F-4D97-AF65-F5344CB8AC3E}">
        <p14:creationId xmlns:p14="http://schemas.microsoft.com/office/powerpoint/2010/main" val="14274782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line">
            <a:extLst xmlns:a="http://schemas.openxmlformats.org/drawingml/2006/main">
              <a:ext uri="{FF2B5EF4-FFF2-40B4-BE49-F238E27FC236}">
                <a16:creationId xmlns:a16="http://schemas.microsoft.com/office/drawing/2014/main" id="{9648A202-418F-4FF5-9C33-EB53523D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Matched sklearn baselines closely track the own models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FCAA2B-B583-4C41-BF31-47254BD9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E3A42-0274-4D2D-9DC8-859DC76AE914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3009900"/>
                <a:gridCol w="3009900"/>
              </a:tblGrid>
              <a:tr h="67056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Task / model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T w="6668">
                      <a:solidFill>
                        <a:srgbClr val="DAE3EC"/>
                      </a:solidFill>
                      <a:prstDash val="solid"/>
                    </a:lnT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 result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T w="6668">
                      <a:solidFill>
                        <a:srgbClr val="DAE3EC"/>
                      </a:solidFill>
                      <a:prstDash val="solid"/>
                    </a:lnT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sklearn result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T w="6668">
                      <a:solidFill>
                        <a:srgbClr val="DAE3EC"/>
                      </a:solidFill>
                      <a:prstDash val="solid"/>
                    </a:lnT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142D45"/>
                    </a:solidFill>
                  </a:tcPr>
                </a:tc>
              </a:tr>
              <a:tr h="67056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Price RMSE (AZN)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667,507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666,545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67056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Tree F1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0.9218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0.9223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Linear SVM F1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0.9037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0.9032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1F5F8"/>
                    </a:solidFill>
                  </a:tcPr>
                </a:tc>
              </a:tr>
              <a:tr h="67056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RFF SVM F1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AE3EC"/>
                      </a:solidFill>
                      <a:prstDash val="solid"/>
                    </a:lnL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0.9088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42D4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0.9098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AE3EC"/>
                      </a:solidFill>
                      <a:prstDash val="solid"/>
                    </a:lnR>
                    <a:lnB w="6668">
                      <a:solidFill>
                        <a:srgbClr val="DA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airness">
            <a:extLst xmlns:a="http://schemas.openxmlformats.org/drawingml/2006/main">
              <a:ext uri="{FF2B5EF4-FFF2-40B4-BE49-F238E27FC236}">
                <a16:creationId xmlns:a16="http://schemas.microsoft.com/office/drawing/2014/main" id="{1D6AE6EA-4DD8-4798-986E-AF16D809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SVM scaling is inside Pipeline. Both RFF solvers share the same mapper.</a:t>
            </a:r>
          </a:p>
          <a:p xmlns:a="http://schemas.openxmlformats.org/drawingml/2006/main">
            <a:pPr>
              <a:defRPr sz="1875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Different optimizers and tree tie-breaking explain small gaps.</a:t>
            </a:r>
          </a:p>
        </p:txBody>
      </p:sp>
    </p:spTree>
    <p:extLst>
      <p:ext uri="{BB962C8B-B14F-4D97-AF65-F5344CB8AC3E}">
        <p14:creationId xmlns:p14="http://schemas.microsoft.com/office/powerpoint/2010/main" val="17025262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line">
            <a:extLst xmlns:a="http://schemas.openxmlformats.org/drawingml/2006/main">
              <a:ext uri="{FF2B5EF4-FFF2-40B4-BE49-F238E27FC236}">
                <a16:creationId xmlns:a16="http://schemas.microsoft.com/office/drawing/2014/main" id="{8C06CC25-4147-4703-8CA5-62EF492A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Reproducible code, honest limits and a short demo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5ACDF8-6B8B-4335-91D2-C2065F66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3" name="command">
            <a:extLst xmlns:a="http://schemas.openxmlformats.org/drawingml/2006/main">
              <a:ext uri="{FF2B5EF4-FFF2-40B4-BE49-F238E27FC236}">
                <a16:creationId xmlns:a16="http://schemas.microsoft.com/office/drawing/2014/main" id="{99F22688-ABAC-4E07-878E-C7070977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67D7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67D72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67D72"/>
                </a:solidFill>
                <a:latin typeface="DejaVu Sans"/>
                <a:ea typeface="DejaVu Sans"/>
                <a:cs typeface="DejaVu Sans"/>
              </a:rPr>
              <a:t>python -m src.run_all</a:t>
            </a:r>
          </a:p>
        </p:txBody>
      </p:sp>
      <p:sp>
        <p:nvSpPr>
          <p:cNvPr id="4" name="deliverables">
            <a:extLst xmlns:a="http://schemas.openxmlformats.org/drawingml/2006/main">
              <a:ext uri="{FF2B5EF4-FFF2-40B4-BE49-F238E27FC236}">
                <a16:creationId xmlns:a16="http://schemas.microsoft.com/office/drawing/2014/main" id="{5B5CB7C0-CB47-4579-9E12-D42DA244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57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NumPy models + tests + saved estimators</a:t>
            </a:r>
          </a:p>
          <a:p xmlns:a="http://schemas.openxmlformats.org/drawingml/2006/main">
            <a:pPr>
              <a:defRPr sz="2250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Executed notebook + numerical outputs</a:t>
            </a:r>
          </a:p>
          <a:p xmlns:a="http://schemas.openxmlformats.org/drawingml/2006/main">
            <a:pPr>
              <a:defRPr sz="2250" b="0">
                <a:solidFill>
                  <a:srgbClr val="142D4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42D45"/>
                </a:solidFill>
                <a:latin typeface="DejaVu Sans"/>
                <a:ea typeface="DejaVu Sans"/>
                <a:cs typeface="DejaVu Sans"/>
              </a:rPr>
              <a:t>IEEE-style report + editable slides</a:t>
            </a:r>
          </a:p>
        </p:txBody>
      </p:sp>
      <p:sp>
        <p:nvSpPr>
          <p:cNvPr id="5" name="limits">
            <a:extLst xmlns:a="http://schemas.openxmlformats.org/drawingml/2006/main">
              <a:ext uri="{FF2B5EF4-FFF2-40B4-BE49-F238E27FC236}">
                <a16:creationId xmlns:a16="http://schemas.microsoft.com/office/drawing/2014/main" id="{B3FD5D7D-8686-4E7A-B17E-4219B7D6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76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Historical asking prices; no independent transaction validation.</a:t>
            </a:r>
          </a:p>
          <a:p xmlns:a="http://schemas.openxmlformats.org/drawingml/2006/main">
            <a:pPr>
              <a:defRPr sz="1875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Future-period performance and extreme labels remain unresolved.</a:t>
            </a:r>
          </a:p>
        </p:txBody>
      </p:sp>
      <p:sp>
        <p:nvSpPr>
          <p:cNvPr id="6" name="disclosure">
            <a:extLst xmlns:a="http://schemas.openxmlformats.org/drawingml/2006/main">
              <a:ext uri="{FF2B5EF4-FFF2-40B4-BE49-F238E27FC236}">
                <a16:creationId xmlns:a16="http://schemas.microsoft.com/office/drawing/2014/main" id="{BD25E2DE-D03B-4AB6-8E6E-49CE3C3F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3667A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53667A"/>
                </a:solidFill>
                <a:latin typeface="DejaVu Sans"/>
                <a:ea typeface="DejaVu Sans"/>
                <a:cs typeface="DejaVu Sans"/>
              </a:rPr>
              <a:t>Developed with substantial ChatGPT/Codex assistance; human contributions must be confirmed by the team.</a:t>
            </a:r>
          </a:p>
        </p:txBody>
      </p:sp>
    </p:spTree>
    <p:extLst>
      <p:ext uri="{BB962C8B-B14F-4D97-AF65-F5344CB8AC3E}">
        <p14:creationId xmlns:p14="http://schemas.microsoft.com/office/powerpoint/2010/main" val="19965003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2026-10-16T18:42:02.5210000Z</dcterms:created>
  <dcterms:modified xsi:type="dcterms:W3CDTF">2026-10-16T18:42:02.5210000Z</dcterms:modified>
</coreProperties>
</file>